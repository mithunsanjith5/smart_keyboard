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59" r:id="rId6"/>
    <p:sldId id="261" r:id="rId7"/>
    <p:sldId id="271" r:id="rId8"/>
    <p:sldId id="272" r:id="rId9"/>
    <p:sldId id="274" r:id="rId10"/>
    <p:sldId id="312" r:id="rId11"/>
    <p:sldId id="315" r:id="rId12"/>
    <p:sldId id="310" r:id="rId13"/>
    <p:sldId id="311" r:id="rId14"/>
    <p:sldId id="306"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53"/>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27C600C-C61D-4B2A-A47B-586CFA6FEEA2}"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042F2E9-BF7E-476D-A34F-8138ADC11BBA}"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ln>
        </p:spPr>
      </p:sp>
      <p:sp>
        <p:nvSpPr>
          <p:cNvPr id="14339"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US"/>
          </a:p>
        </p:txBody>
      </p:sp>
      <p:sp>
        <p:nvSpPr>
          <p:cNvPr id="14340" name="Slide Number Placeholder 3"/>
          <p:cNvSpPr>
            <a:spLocks noGrp="1"/>
          </p:cNvSpPr>
          <p:nvPr>
            <p:ph type="sldNum" sz="quarter" idx="5"/>
          </p:nvPr>
        </p:nvSpPr>
        <p:spPr bwMode="auto">
          <a:noFill/>
          <a:ln>
            <a:miter lim="800000"/>
          </a:ln>
        </p:spPr>
        <p:txBody>
          <a:bodyPr wrap="square" numCol="1" anchorCtr="0" compatLnSpc="1"/>
          <a:lstStyle/>
          <a:p>
            <a:fld id="{2062319A-84B9-4940-89CF-EF417369B253}" type="slidenum">
              <a:rPr lang="en-US" smtClean="0">
                <a:latin typeface="Arial" panose="020B0604020202020204" pitchFamily="34" charset="0"/>
                <a:cs typeface="Arial" panose="020B0604020202020204" pitchFamily="34" charset="0"/>
              </a:rPr>
            </a:fld>
            <a:endParaRPr lang="en-US">
              <a:latin typeface="Arial" panose="020B0604020202020204" pitchFamily="34" charset="0"/>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E6A8E753-104F-41EE-8906-46A17B9DDA3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C3E942-B799-4BB5-B3B7-FBA5C48072B1}"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6A8E753-104F-41EE-8906-46A17B9DDA3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C3E942-B799-4BB5-B3B7-FBA5C48072B1}"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E6A8E753-104F-41EE-8906-46A17B9DDA3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C3E942-B799-4BB5-B3B7-FBA5C48072B1}"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E6A8E753-104F-41EE-8906-46A17B9DDA3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C3E942-B799-4BB5-B3B7-FBA5C48072B1}"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E6A8E753-104F-41EE-8906-46A17B9DDA30}"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C3E942-B799-4BB5-B3B7-FBA5C48072B1}"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E6A8E753-104F-41EE-8906-46A17B9DDA30}"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C3E942-B799-4BB5-B3B7-FBA5C48072B1}"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A8E753-104F-41EE-8906-46A17B9DDA30}"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C3E942-B799-4BB5-B3B7-FBA5C48072B1}"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6A8E753-104F-41EE-8906-46A17B9DDA3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C3E942-B799-4BB5-B3B7-FBA5C48072B1}"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6A8E753-104F-41EE-8906-46A17B9DDA3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C3E942-B799-4BB5-B3B7-FBA5C48072B1}"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6A8E753-104F-41EE-8906-46A17B9DDA3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C3E942-B799-4BB5-B3B7-FBA5C48072B1}"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6A8E753-104F-41EE-8906-46A17B9DDA3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C3E942-B799-4BB5-B3B7-FBA5C48072B1}"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A8E753-104F-41EE-8906-46A17B9DDA30}"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C3E942-B799-4BB5-B3B7-FBA5C48072B1}"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s://dl.acm.org.com/" TargetMode="External"/><Relationship Id="rId2" Type="http://schemas.openxmlformats.org/officeDocument/2006/relationships/hyperlink" Target="http://creativecommons.org/licenses/by-nc/4.0/" TargetMode="External"/><Relationship Id="rId1" Type="http://schemas.openxmlformats.org/officeDocument/2006/relationships/hyperlink" Target="https://doi.org/10.3390/su17198761"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11"/>
          <p:cNvSpPr>
            <a:spLocks noChangeArrowheads="1"/>
          </p:cNvSpPr>
          <p:nvPr/>
        </p:nvSpPr>
        <p:spPr bwMode="auto">
          <a:xfrm>
            <a:off x="457200" y="2063750"/>
            <a:ext cx="8324850" cy="829945"/>
          </a:xfrm>
          <a:prstGeom prst="rect">
            <a:avLst/>
          </a:prstGeom>
          <a:noFill/>
          <a:ln w="9525">
            <a:noFill/>
            <a:miter lim="800000"/>
          </a:ln>
        </p:spPr>
        <p:txBody>
          <a:bodyPr wrap="square">
            <a:spAutoFit/>
          </a:bodyPr>
          <a:lstStyle/>
          <a:p>
            <a:pPr algn="ctr" eaLnBrk="0" hangingPunct="0"/>
            <a:r>
              <a:rPr lang="en-US" altLang="en-US" sz="2400" b="1" dirty="0">
                <a:latin typeface="Times New Roman" panose="02020603050405020304" pitchFamily="18" charset="0"/>
                <a:cs typeface="Times New Roman" panose="02020603050405020304" pitchFamily="18" charset="0"/>
              </a:rPr>
              <a:t>Adaptive Smart Keyboard with On-Demand AI Interaction and Knowledge-Aware Text Generation</a:t>
            </a:r>
            <a:endParaRPr lang="en-US" altLang="en-US" sz="2400" b="1" dirty="0">
              <a:latin typeface="Times New Roman" panose="02020603050405020304" pitchFamily="18" charset="0"/>
              <a:cs typeface="Times New Roman" panose="02020603050405020304" pitchFamily="18" charset="0"/>
            </a:endParaRPr>
          </a:p>
        </p:txBody>
      </p:sp>
      <p:sp>
        <p:nvSpPr>
          <p:cNvPr id="2053" name="Rectangle 11"/>
          <p:cNvSpPr>
            <a:spLocks noChangeArrowheads="1"/>
          </p:cNvSpPr>
          <p:nvPr/>
        </p:nvSpPr>
        <p:spPr bwMode="auto">
          <a:xfrm>
            <a:off x="2438400" y="5488453"/>
            <a:ext cx="4457700" cy="1106805"/>
          </a:xfrm>
          <a:prstGeom prst="rect">
            <a:avLst/>
          </a:prstGeom>
          <a:noFill/>
          <a:ln w="9525">
            <a:noFill/>
            <a:miter lim="800000"/>
          </a:ln>
        </p:spPr>
        <p:txBody>
          <a:bodyPr wrap="square">
            <a:spAutoFit/>
          </a:bodyPr>
          <a:lstStyle/>
          <a:p>
            <a:pPr algn="ctr" eaLnBrk="0" hangingPunct="0"/>
            <a:r>
              <a:rPr lang="en-US" sz="2200" b="1" dirty="0">
                <a:latin typeface="Times New Roman" panose="02020603050405020304" pitchFamily="18" charset="0"/>
                <a:cs typeface="Times New Roman" panose="02020603050405020304" pitchFamily="18" charset="0"/>
              </a:rPr>
              <a:t>Guided By,</a:t>
            </a:r>
            <a:endParaRPr lang="en-US" sz="2200" b="1" dirty="0">
              <a:latin typeface="Times New Roman" panose="02020603050405020304" pitchFamily="18" charset="0"/>
              <a:cs typeface="Times New Roman" panose="02020603050405020304" pitchFamily="18" charset="0"/>
            </a:endParaRPr>
          </a:p>
          <a:p>
            <a:pPr algn="ctr" eaLnBrk="0" hangingPunct="0"/>
            <a:r>
              <a:rPr lang="en-US" sz="2200" b="1" dirty="0">
                <a:latin typeface="Times New Roman" panose="02020603050405020304" pitchFamily="18" charset="0"/>
                <a:cs typeface="Times New Roman" panose="02020603050405020304" pitchFamily="18" charset="0"/>
              </a:rPr>
              <a:t>Dr. </a:t>
            </a:r>
            <a:r>
              <a:rPr lang="en-IN" altLang="en-US" sz="2200" b="1" dirty="0">
                <a:latin typeface="Times New Roman" panose="02020603050405020304" pitchFamily="18" charset="0"/>
                <a:cs typeface="Times New Roman" panose="02020603050405020304" pitchFamily="18" charset="0"/>
              </a:rPr>
              <a:t>RENUKA DEVI.P</a:t>
            </a:r>
            <a:endParaRPr lang="en-US" sz="2200" b="1" dirty="0">
              <a:latin typeface="Times New Roman" panose="02020603050405020304" pitchFamily="18" charset="0"/>
              <a:cs typeface="Times New Roman" panose="02020603050405020304" pitchFamily="18" charset="0"/>
            </a:endParaRPr>
          </a:p>
          <a:p>
            <a:pPr algn="ctr" eaLnBrk="0" hangingPunct="0"/>
            <a:r>
              <a:rPr lang="en-US" sz="2200" b="1" dirty="0">
                <a:latin typeface="Times New Roman" panose="02020603050405020304" pitchFamily="18" charset="0"/>
                <a:cs typeface="Times New Roman" panose="02020603050405020304" pitchFamily="18" charset="0"/>
              </a:rPr>
              <a:t>Assistant Professor / CSE-AIML</a:t>
            </a:r>
            <a:endParaRPr lang="en-US" sz="2200" b="1" dirty="0">
              <a:latin typeface="Times New Roman" panose="02020603050405020304" pitchFamily="18" charset="0"/>
              <a:cs typeface="Times New Roman" panose="02020603050405020304" pitchFamily="18" charset="0"/>
            </a:endParaRPr>
          </a:p>
        </p:txBody>
      </p:sp>
      <p:sp>
        <p:nvSpPr>
          <p:cNvPr id="2054" name="Rectangle 11"/>
          <p:cNvSpPr>
            <a:spLocks noChangeArrowheads="1"/>
          </p:cNvSpPr>
          <p:nvPr/>
        </p:nvSpPr>
        <p:spPr bwMode="auto">
          <a:xfrm>
            <a:off x="1828799" y="3137560"/>
            <a:ext cx="5486400" cy="2245360"/>
          </a:xfrm>
          <a:prstGeom prst="rect">
            <a:avLst/>
          </a:prstGeom>
          <a:noFill/>
          <a:ln w="9525">
            <a:noFill/>
            <a:miter lim="800000"/>
          </a:ln>
        </p:spPr>
        <p:txBody>
          <a:bodyPr wrap="square">
            <a:spAutoFit/>
          </a:bodyPr>
          <a:lstStyle/>
          <a:p>
            <a:pPr algn="ctr" eaLnBrk="0" hangingPunct="0"/>
            <a:r>
              <a:rPr lang="en-US" sz="2000" b="1" dirty="0">
                <a:latin typeface="Times New Roman" panose="02020603050405020304" pitchFamily="18" charset="0"/>
                <a:cs typeface="Times New Roman" panose="02020603050405020304" pitchFamily="18" charset="0"/>
              </a:rPr>
              <a:t>Presentation By, </a:t>
            </a:r>
            <a:endParaRPr lang="en-US" sz="2000" b="1" dirty="0">
              <a:latin typeface="Times New Roman" panose="02020603050405020304" pitchFamily="18" charset="0"/>
              <a:cs typeface="Times New Roman" panose="02020603050405020304" pitchFamily="18" charset="0"/>
            </a:endParaRPr>
          </a:p>
          <a:p>
            <a:pPr algn="ctr" eaLnBrk="0" hangingPunct="0"/>
            <a:r>
              <a:rPr lang="en-IN" altLang="en-US" sz="2000" b="1" dirty="0">
                <a:solidFill>
                  <a:srgbClr val="FF0066"/>
                </a:solidFill>
                <a:latin typeface="Times New Roman" panose="02020603050405020304" pitchFamily="18" charset="0"/>
                <a:cs typeface="Times New Roman" panose="02020603050405020304" pitchFamily="18" charset="0"/>
              </a:rPr>
              <a:t>Mithun Sanjith.V(23BTRCL151)</a:t>
            </a:r>
            <a:r>
              <a:rPr lang="en-US" sz="2000" b="1" dirty="0">
                <a:solidFill>
                  <a:srgbClr val="FF0066"/>
                </a:solidFill>
                <a:latin typeface="Times New Roman" panose="02020603050405020304" pitchFamily="18" charset="0"/>
                <a:cs typeface="Times New Roman" panose="02020603050405020304" pitchFamily="18" charset="0"/>
              </a:rPr>
              <a:t>                                                                  </a:t>
            </a:r>
            <a:endParaRPr lang="en-US" sz="2000" b="1" dirty="0">
              <a:solidFill>
                <a:srgbClr val="FF0066"/>
              </a:solidFill>
              <a:latin typeface="Times New Roman" panose="02020603050405020304" pitchFamily="18" charset="0"/>
              <a:cs typeface="Times New Roman" panose="02020603050405020304" pitchFamily="18" charset="0"/>
            </a:endParaRPr>
          </a:p>
          <a:p>
            <a:pPr algn="ctr" eaLnBrk="0" hangingPunct="0"/>
            <a:r>
              <a:rPr lang="en-IN" altLang="en-US" sz="2000" b="1" dirty="0">
                <a:solidFill>
                  <a:srgbClr val="FF0066"/>
                </a:solidFill>
                <a:latin typeface="Times New Roman" panose="02020603050405020304" pitchFamily="18" charset="0"/>
                <a:cs typeface="Times New Roman" panose="02020603050405020304" pitchFamily="18" charset="0"/>
              </a:rPr>
              <a:t>Aswin Angras.A</a:t>
            </a:r>
            <a:r>
              <a:rPr lang="en-US" sz="2000" b="1" dirty="0">
                <a:solidFill>
                  <a:srgbClr val="FF0066"/>
                </a:solidFill>
                <a:latin typeface="Times New Roman" panose="02020603050405020304" pitchFamily="18" charset="0"/>
                <a:cs typeface="Times New Roman" panose="02020603050405020304" pitchFamily="18" charset="0"/>
              </a:rPr>
              <a:t>(23BTRCL</a:t>
            </a:r>
            <a:r>
              <a:rPr lang="en-IN" altLang="en-US" sz="2000" b="1" dirty="0">
                <a:solidFill>
                  <a:srgbClr val="FF0066"/>
                </a:solidFill>
                <a:latin typeface="Times New Roman" panose="02020603050405020304" pitchFamily="18" charset="0"/>
                <a:cs typeface="Times New Roman" panose="02020603050405020304" pitchFamily="18" charset="0"/>
              </a:rPr>
              <a:t>032</a:t>
            </a:r>
            <a:r>
              <a:rPr lang="en-US" sz="2000" b="1" dirty="0">
                <a:solidFill>
                  <a:srgbClr val="FF0066"/>
                </a:solidFill>
                <a:latin typeface="Times New Roman" panose="02020603050405020304" pitchFamily="18" charset="0"/>
                <a:cs typeface="Times New Roman" panose="02020603050405020304" pitchFamily="18" charset="0"/>
              </a:rPr>
              <a:t>)                                                                              </a:t>
            </a:r>
            <a:endParaRPr lang="en-US" sz="2000" b="1" dirty="0">
              <a:solidFill>
                <a:srgbClr val="FF0066"/>
              </a:solidFill>
              <a:latin typeface="Times New Roman" panose="02020603050405020304" pitchFamily="18" charset="0"/>
              <a:cs typeface="Times New Roman" panose="02020603050405020304" pitchFamily="18" charset="0"/>
            </a:endParaRPr>
          </a:p>
          <a:p>
            <a:pPr algn="ctr" eaLnBrk="0" hangingPunct="0"/>
            <a:r>
              <a:rPr lang="en-IN" altLang="en-US" sz="2000" b="1" dirty="0">
                <a:solidFill>
                  <a:srgbClr val="FF0066"/>
                </a:solidFill>
                <a:latin typeface="Times New Roman" panose="02020603050405020304" pitchFamily="18" charset="0"/>
                <a:cs typeface="Times New Roman" panose="02020603050405020304" pitchFamily="18" charset="0"/>
              </a:rPr>
              <a:t>Ahamed Dheethath.S</a:t>
            </a:r>
            <a:r>
              <a:rPr lang="en-US" sz="2000" b="1" dirty="0">
                <a:solidFill>
                  <a:srgbClr val="FF0066"/>
                </a:solidFill>
                <a:latin typeface="Times New Roman" panose="02020603050405020304" pitchFamily="18" charset="0"/>
                <a:cs typeface="Times New Roman" panose="02020603050405020304" pitchFamily="18" charset="0"/>
              </a:rPr>
              <a:t>(23BTRCL</a:t>
            </a:r>
            <a:r>
              <a:rPr lang="en-IN" altLang="en-US" sz="2000" b="1" dirty="0">
                <a:solidFill>
                  <a:srgbClr val="FF0066"/>
                </a:solidFill>
                <a:latin typeface="Times New Roman" panose="02020603050405020304" pitchFamily="18" charset="0"/>
                <a:cs typeface="Times New Roman" panose="02020603050405020304" pitchFamily="18" charset="0"/>
              </a:rPr>
              <a:t>012</a:t>
            </a:r>
            <a:r>
              <a:rPr lang="en-US" sz="2000" b="1" dirty="0">
                <a:solidFill>
                  <a:srgbClr val="FF0066"/>
                </a:solidFill>
                <a:latin typeface="Times New Roman" panose="02020603050405020304" pitchFamily="18" charset="0"/>
                <a:cs typeface="Times New Roman" panose="02020603050405020304" pitchFamily="18" charset="0"/>
              </a:rPr>
              <a:t>)</a:t>
            </a:r>
            <a:endParaRPr lang="en-US" sz="2000" b="1" dirty="0">
              <a:solidFill>
                <a:srgbClr val="FF0066"/>
              </a:solidFill>
              <a:latin typeface="Times New Roman" panose="02020603050405020304" pitchFamily="18" charset="0"/>
              <a:cs typeface="Times New Roman" panose="02020603050405020304" pitchFamily="18" charset="0"/>
            </a:endParaRPr>
          </a:p>
          <a:p>
            <a:pPr algn="ctr" eaLnBrk="0" hangingPunct="0"/>
            <a:r>
              <a:rPr lang="en-IN" altLang="en-US" sz="2000" b="1" dirty="0">
                <a:solidFill>
                  <a:srgbClr val="FF0066"/>
                </a:solidFill>
                <a:latin typeface="Times New Roman" panose="02020603050405020304" pitchFamily="18" charset="0"/>
                <a:cs typeface="Times New Roman" panose="02020603050405020304" pitchFamily="18" charset="0"/>
              </a:rPr>
              <a:t>Joel Jefrin.J</a:t>
            </a:r>
            <a:r>
              <a:rPr lang="en-US" sz="2000" b="1" dirty="0">
                <a:solidFill>
                  <a:srgbClr val="FF0066"/>
                </a:solidFill>
                <a:latin typeface="Times New Roman" panose="02020603050405020304" pitchFamily="18" charset="0"/>
                <a:cs typeface="Times New Roman" panose="02020603050405020304" pitchFamily="18" charset="0"/>
              </a:rPr>
              <a:t>(23BTRCL</a:t>
            </a:r>
            <a:r>
              <a:rPr lang="en-IN" altLang="en-US" sz="2000" b="1" dirty="0">
                <a:solidFill>
                  <a:srgbClr val="FF0066"/>
                </a:solidFill>
                <a:latin typeface="Times New Roman" panose="02020603050405020304" pitchFamily="18" charset="0"/>
                <a:cs typeface="Times New Roman" panose="02020603050405020304" pitchFamily="18" charset="0"/>
              </a:rPr>
              <a:t>144</a:t>
            </a:r>
            <a:r>
              <a:rPr lang="en-US" sz="2000" b="1" dirty="0">
                <a:solidFill>
                  <a:srgbClr val="FF0066"/>
                </a:solidFill>
                <a:latin typeface="Times New Roman" panose="02020603050405020304" pitchFamily="18" charset="0"/>
                <a:cs typeface="Times New Roman" panose="02020603050405020304" pitchFamily="18" charset="0"/>
              </a:rPr>
              <a:t>)</a:t>
            </a:r>
            <a:endParaRPr lang="en-US" sz="2000" b="1" dirty="0">
              <a:solidFill>
                <a:srgbClr val="FF0066"/>
              </a:solidFill>
              <a:latin typeface="Times New Roman" panose="02020603050405020304" pitchFamily="18" charset="0"/>
              <a:cs typeface="Times New Roman" panose="02020603050405020304" pitchFamily="18" charset="0"/>
            </a:endParaRPr>
          </a:p>
          <a:p>
            <a:pPr algn="ctr" eaLnBrk="0" hangingPunct="0"/>
            <a:r>
              <a:rPr lang="en-IN" altLang="en-US" sz="2000" b="1" dirty="0">
                <a:solidFill>
                  <a:srgbClr val="FF0066"/>
                </a:solidFill>
                <a:latin typeface="Times New Roman" panose="02020603050405020304" pitchFamily="18" charset="0"/>
                <a:cs typeface="Times New Roman" panose="02020603050405020304" pitchFamily="18" charset="0"/>
              </a:rPr>
              <a:t>Gokul.R(23BTRCL140)</a:t>
            </a:r>
            <a:endParaRPr lang="en-IN" altLang="en-US" sz="2000" b="1" dirty="0">
              <a:solidFill>
                <a:srgbClr val="FF0066"/>
              </a:solidFill>
              <a:latin typeface="Times New Roman" panose="02020603050405020304" pitchFamily="18" charset="0"/>
              <a:cs typeface="Times New Roman" panose="02020603050405020304" pitchFamily="18" charset="0"/>
            </a:endParaRPr>
          </a:p>
          <a:p>
            <a:pPr algn="ctr" eaLnBrk="0" hangingPunct="0"/>
            <a:r>
              <a:rPr lang="en-IN" altLang="en-US" sz="2000" b="1" dirty="0">
                <a:solidFill>
                  <a:srgbClr val="FF0066"/>
                </a:solidFill>
                <a:latin typeface="Times New Roman" panose="02020603050405020304" pitchFamily="18" charset="0"/>
                <a:cs typeface="Times New Roman" panose="02020603050405020304" pitchFamily="18" charset="0"/>
              </a:rPr>
              <a:t>Dharun.P(23BTRCL014)</a:t>
            </a:r>
            <a:endParaRPr lang="en-IN" altLang="en-US" sz="2000" b="1" dirty="0">
              <a:solidFill>
                <a:srgbClr val="FF0066"/>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414394" y="304800"/>
            <a:ext cx="8315211" cy="1226185"/>
          </a:xfrm>
          <a:prstGeom prst="rect">
            <a:avLst/>
          </a:prstGeom>
          <a:noFill/>
          <a:ln>
            <a:noFill/>
          </a:ln>
        </p:spPr>
      </p:pic>
      <p:sp>
        <p:nvSpPr>
          <p:cNvPr id="3" name="TextBox 2"/>
          <p:cNvSpPr txBox="1"/>
          <p:nvPr/>
        </p:nvSpPr>
        <p:spPr>
          <a:xfrm>
            <a:off x="3581399" y="1582489"/>
            <a:ext cx="1981200" cy="429895"/>
          </a:xfrm>
          <a:prstGeom prst="rect">
            <a:avLst/>
          </a:prstGeom>
          <a:noFill/>
        </p:spPr>
        <p:txBody>
          <a:bodyPr wrap="square" rtlCol="0">
            <a:spAutoFit/>
          </a:bodyPr>
          <a:lstStyle/>
          <a:p>
            <a:pPr algn="ctr"/>
            <a:r>
              <a:rPr lang="en-IN" sz="2200" b="1" dirty="0">
                <a:latin typeface="Times New Roman" panose="02020603050405020304" pitchFamily="18" charset="0"/>
                <a:cs typeface="Times New Roman" panose="02020603050405020304" pitchFamily="18" charset="0"/>
              </a:rPr>
              <a:t>Team No. 17</a:t>
            </a:r>
            <a:endParaRPr lang="en-IN" sz="2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CONTENTS</a:t>
            </a:r>
            <a:br>
              <a:rPr lang="en-US" b="1" dirty="0">
                <a:latin typeface="Book Antiqua" panose="02040602050305030304" pitchFamily="18" charset="0"/>
              </a:rPr>
            </a:br>
            <a:endParaRPr lang="en-US" dirty="0"/>
          </a:p>
        </p:txBody>
      </p:sp>
      <p:sp>
        <p:nvSpPr>
          <p:cNvPr id="3" name="Content Placeholder 2"/>
          <p:cNvSpPr>
            <a:spLocks noGrp="1"/>
          </p:cNvSpPr>
          <p:nvPr>
            <p:ph idx="1"/>
          </p:nvPr>
        </p:nvSpPr>
        <p:spPr/>
        <p:txBody>
          <a:bodyPr>
            <a:normAutofit fontScale="70000" lnSpcReduction="20000"/>
          </a:bodyPr>
          <a:lstStyle/>
          <a:p>
            <a:pPr>
              <a:lnSpc>
                <a:spcPct val="150000"/>
              </a:lnSpc>
              <a:buFont typeface="Wingdings" panose="05000000000000000000" pitchFamily="2" charset="2"/>
              <a:buChar char="v"/>
            </a:pP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Abstract</a:t>
            </a:r>
            <a:endParaRPr lang="en-US" sz="28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v"/>
            </a:pP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Introduction</a:t>
            </a:r>
            <a:endParaRPr lang="en-US" sz="28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v"/>
            </a:pP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System requirement </a:t>
            </a:r>
            <a:endParaRPr lang="en-US" sz="28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v"/>
            </a:pP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Literature Survey</a:t>
            </a:r>
            <a:endParaRPr lang="en-US" sz="28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v"/>
            </a:pP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Existing system</a:t>
            </a:r>
            <a:endParaRPr lang="en-US" sz="28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v"/>
            </a:pP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Block diagram</a:t>
            </a:r>
            <a:endParaRPr lang="en-US" sz="28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v"/>
            </a:pP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Proposed System </a:t>
            </a:r>
            <a:endParaRPr lang="en-US" sz="28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v"/>
            </a:pP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Conclusion</a:t>
            </a:r>
            <a:endParaRPr lang="en-US" sz="28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v"/>
            </a:pP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References</a:t>
            </a:r>
            <a:endParaRPr lang="en-US" sz="28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a:buNone/>
            </a:pPr>
            <a:endParaRPr lang="en-US" b="1" dirty="0">
              <a:solidFill>
                <a:schemeClr val="tx2">
                  <a:lumMod val="60000"/>
                  <a:lumOff val="40000"/>
                </a:schemeClr>
              </a:solidFill>
              <a:latin typeface="Book Antiqua" panose="02040602050305030304" pitchFamily="18" charset="0"/>
              <a:cs typeface="Times New Roman" panose="02020603050405020304" pitchFamily="18" charset="0"/>
            </a:endParaRPr>
          </a:p>
          <a:p>
            <a:pPr>
              <a:buNone/>
            </a:pPr>
            <a:endParaRPr lang="en-US" b="1" dirty="0">
              <a:solidFill>
                <a:schemeClr val="tx2">
                  <a:lumMod val="60000"/>
                  <a:lumOff val="40000"/>
                </a:schemeClr>
              </a:solidFill>
              <a:latin typeface="Book Antiqua" panose="0204060205030503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28600"/>
            <a:ext cx="8229600" cy="1143000"/>
          </a:xfrm>
        </p:spPr>
        <p:txBody>
          <a:bodyPr>
            <a:normAutofit/>
          </a:bodyPr>
          <a:lstStyle/>
          <a:p>
            <a:r>
              <a:rPr lang="en-US" sz="4000" dirty="0"/>
              <a:t>ABSTRACT</a:t>
            </a:r>
            <a:endParaRPr lang="en-US" sz="4000" dirty="0"/>
          </a:p>
        </p:txBody>
      </p:sp>
      <p:sp>
        <p:nvSpPr>
          <p:cNvPr id="3" name="Content Placeholder 2"/>
          <p:cNvSpPr>
            <a:spLocks noGrp="1"/>
          </p:cNvSpPr>
          <p:nvPr>
            <p:ph idx="1"/>
          </p:nvPr>
        </p:nvSpPr>
        <p:spPr>
          <a:xfrm>
            <a:off x="228600" y="1143000"/>
            <a:ext cx="8229600" cy="5638800"/>
          </a:xfrm>
        </p:spPr>
        <p:txBody>
          <a:bodyPr>
            <a:noAutofit/>
          </a:bodyPr>
          <a:lstStyle/>
          <a:p>
            <a:pPr algn="just">
              <a:lnSpc>
                <a:spcPct val="150000"/>
              </a:lnSpc>
            </a:pPr>
            <a:r>
              <a:rPr lang="en-US" altLang="en-US" sz="1600" dirty="0">
                <a:latin typeface="Times New Roman" panose="02020603050405020304" pitchFamily="18" charset="0"/>
                <a:cs typeface="Times New Roman" panose="02020603050405020304" pitchFamily="18" charset="0"/>
              </a:rPr>
              <a:t>Smart keyboards are really important for talking to people because they can guess what you want to type and give you suggestions.The keyboards we have now are not great because they are always using artificial intelligence and do not care about what the user is good at. Also people are worried about their privacy because all the information is stored in one place..</a:t>
            </a:r>
            <a:endParaRPr lang="en-US" altLang="en-US" sz="1600" dirty="0">
              <a:latin typeface="Times New Roman" panose="02020603050405020304" pitchFamily="18" charset="0"/>
              <a:cs typeface="Times New Roman" panose="02020603050405020304" pitchFamily="18" charset="0"/>
            </a:endParaRPr>
          </a:p>
          <a:p>
            <a:pPr algn="just">
              <a:lnSpc>
                <a:spcPct val="150000"/>
              </a:lnSpc>
            </a:pPr>
            <a:r>
              <a:rPr lang="en-US" altLang="en-US" sz="1600" dirty="0">
                <a:latin typeface="Times New Roman" panose="02020603050405020304" pitchFamily="18" charset="0"/>
                <a:cs typeface="Times New Roman" panose="02020603050405020304" pitchFamily="18" charset="0"/>
                <a:sym typeface="+mn-ea"/>
              </a:rPr>
              <a:t>This paper is about a kind of smart keyboard that can work with artificial intelligence when you want it to. It also knows what you know. Can suggest things based on that. The new system lets you decide when you want help from the intelligence so you do not get confused. It also changes what it suggests based on how much you know about something. The smart keyboard keeps your information safe on your device.</a:t>
            </a:r>
            <a:endParaRPr lang="en-US" altLang="en-US" sz="1600" dirty="0">
              <a:latin typeface="Times New Roman" panose="02020603050405020304" pitchFamily="18" charset="0"/>
              <a:cs typeface="Times New Roman" panose="02020603050405020304" pitchFamily="18" charset="0"/>
              <a:sym typeface="+mn-ea"/>
            </a:endParaRPr>
          </a:p>
          <a:p>
            <a:pPr algn="just">
              <a:lnSpc>
                <a:spcPct val="150000"/>
              </a:lnSpc>
            </a:pPr>
            <a:r>
              <a:rPr lang="en-US" altLang="en-US" sz="1600" dirty="0">
                <a:latin typeface="Times New Roman" panose="02020603050405020304" pitchFamily="18" charset="0"/>
                <a:cs typeface="Times New Roman" panose="02020603050405020304" pitchFamily="18" charset="0"/>
              </a:rPr>
              <a:t> The people who made this system tried it out. It works better, than the old systems. It is more helpful. It keeps your information private.</a:t>
            </a:r>
            <a:endParaRPr lang="en-US" altLang="en-US" sz="1600" dirty="0">
              <a:latin typeface="Times New Roman" panose="02020603050405020304" pitchFamily="18" charset="0"/>
              <a:cs typeface="Times New Roman" panose="02020603050405020304" pitchFamily="18" charset="0"/>
            </a:endParaRPr>
          </a:p>
          <a:p>
            <a:pPr algn="just">
              <a:lnSpc>
                <a:spcPct val="150000"/>
              </a:lnSpc>
            </a:pPr>
            <a:r>
              <a:rPr lang="en-US" altLang="en-US" sz="1600" dirty="0">
                <a:latin typeface="Times New Roman" panose="02020603050405020304" pitchFamily="18" charset="0"/>
                <a:cs typeface="Times New Roman" panose="02020603050405020304" pitchFamily="18" charset="0"/>
              </a:rPr>
              <a:t>To further enhance privacy, Differential Privacy (DP) is integrated into the training process through gradient clipping and noise addition, providing formal mathematical privacy guarantees measured by a privacy budget (ε).</a:t>
            </a:r>
            <a:r>
              <a:rPr lang="en-IN" sz="1600" dirty="0">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pPr marL="0" indent="0" algn="just">
              <a:lnSpc>
                <a:spcPct val="150000"/>
              </a:lnSpc>
              <a:buNone/>
            </a:pPr>
            <a:r>
              <a:rPr lang="en-IN" sz="1600" dirty="0">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pPr algn="just">
              <a:lnSpc>
                <a:spcPct val="150000"/>
              </a:lnSpc>
            </a:pP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2362200"/>
          </a:xfrm>
        </p:spPr>
        <p:txBody>
          <a:bodyPr>
            <a:normAutofit/>
          </a:bodyPr>
          <a:lstStyle/>
          <a:p>
            <a:r>
              <a:rPr lang="en-US" sz="4000" dirty="0">
                <a:latin typeface="Times New Roman" panose="02020603050405020304" pitchFamily="18" charset="0"/>
                <a:cs typeface="Times New Roman" panose="02020603050405020304" pitchFamily="18" charset="0"/>
              </a:rPr>
              <a:t>INTRODUCTION</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8600" y="1066800"/>
            <a:ext cx="8686800" cy="6553200"/>
          </a:xfrm>
        </p:spPr>
        <p:txBody>
          <a:bodyPr>
            <a:noAutofit/>
          </a:bodyPr>
          <a:lstStyle/>
          <a:p>
            <a:pPr algn="just">
              <a:lnSpc>
                <a:spcPct val="150000"/>
              </a:lnSpc>
            </a:pPr>
            <a:r>
              <a:rPr lang="en-US" altLang="en-US" sz="1600" dirty="0">
                <a:latin typeface="Times New Roman" panose="02020603050405020304" pitchFamily="18" charset="0"/>
                <a:cs typeface="Times New Roman" panose="02020603050405020304" pitchFamily="18" charset="0"/>
              </a:rPr>
              <a:t>Digital communication is a part of our daily lives now. We use smartphones and social media all the time. Smart keyboards help us communicate better by giving us features like text and suggestions. These features help us type faster and make mistakes. Even with these features smart keyboards still have some problems. They can be hard to use. Do not always understand what we want.</a:t>
            </a:r>
            <a:endParaRPr lang="en-US" altLang="en-US" sz="1600" dirty="0">
              <a:latin typeface="Times New Roman" panose="02020603050405020304" pitchFamily="18" charset="0"/>
              <a:cs typeface="Times New Roman" panose="02020603050405020304" pitchFamily="18" charset="0"/>
            </a:endParaRPr>
          </a:p>
          <a:p>
            <a:pPr algn="just">
              <a:lnSpc>
                <a:spcPct val="150000"/>
              </a:lnSpc>
            </a:pPr>
            <a:r>
              <a:rPr lang="en-US" altLang="en-US" sz="1600" dirty="0">
                <a:latin typeface="Times New Roman" panose="02020603050405020304" pitchFamily="18" charset="0"/>
                <a:cs typeface="Times New Roman" panose="02020603050405020304" pitchFamily="18" charset="0"/>
              </a:rPr>
              <a:t>Smart keyboards use a system where they send our typing information to a big computer somewhere else. This can be a problem because we often type information like passwords. We do not want this information to be seen by others. Also these keyboards always try to help us by giving us suggestions. Sometimes we do not need help and these suggestions can be annoying. They can also give us much information and make it hard for us to think. Another problem is that these keyboards do not understand if we are beginners or experts. They treat us all the same.To fix these problems we made a kind of smart keyboard..</a:t>
            </a:r>
            <a:endParaRPr lang="en-US" altLang="en-US" sz="1600" dirty="0">
              <a:latin typeface="Times New Roman" panose="02020603050405020304" pitchFamily="18" charset="0"/>
              <a:cs typeface="Times New Roman" panose="02020603050405020304" pitchFamily="18" charset="0"/>
            </a:endParaRPr>
          </a:p>
          <a:p>
            <a:pPr algn="just">
              <a:lnSpc>
                <a:spcPct val="150000"/>
              </a:lnSpc>
            </a:pPr>
            <a:r>
              <a:rPr lang="en-IN" altLang="en-US" sz="1600" dirty="0">
                <a:latin typeface="Times New Roman" panose="02020603050405020304" pitchFamily="18" charset="0"/>
                <a:cs typeface="Times New Roman" panose="02020603050405020304" pitchFamily="18" charset="0"/>
              </a:rPr>
              <a:t>E</a:t>
            </a:r>
            <a:r>
              <a:rPr lang="en-US" altLang="en-US" sz="1600" dirty="0">
                <a:latin typeface="Times New Roman" panose="02020603050405020304" pitchFamily="18" charset="0"/>
                <a:cs typeface="Times New Roman" panose="02020603050405020304" pitchFamily="18" charset="0"/>
              </a:rPr>
              <a:t>ach device trains a local model using its own data and sends only model updates (such as weights or gradients) to the server. The server then aggregates these updates using algorithms like Federated Averaging (FedAvg) to improve the global model.</a:t>
            </a:r>
            <a:endParaRPr lang="en-US" alt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4000" dirty="0">
                <a:latin typeface="Times New Roman" panose="02020603050405020304" pitchFamily="18" charset="0"/>
                <a:cs typeface="Times New Roman" panose="02020603050405020304" pitchFamily="18" charset="0"/>
              </a:rPr>
              <a:t>SYSTEM REQUIREMENT</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00200"/>
            <a:ext cx="8229600" cy="4525963"/>
          </a:xfrm>
        </p:spPr>
        <p:txBody>
          <a:bodyPr>
            <a:normAutofit lnSpcReduction="10000"/>
          </a:bodyPr>
          <a:lstStyle/>
          <a:p>
            <a:r>
              <a:rPr lang="en-US" sz="2400" b="1" dirty="0">
                <a:latin typeface="Times New Roman" panose="02020603050405020304" pitchFamily="18" charset="0"/>
                <a:cs typeface="Times New Roman" panose="02020603050405020304" pitchFamily="18" charset="0"/>
              </a:rPr>
              <a:t>Programming Language:</a:t>
            </a:r>
            <a:r>
              <a:rPr lang="en-US" sz="2400" dirty="0">
                <a:latin typeface="Times New Roman" panose="02020603050405020304" pitchFamily="18" charset="0"/>
                <a:cs typeface="Times New Roman" panose="02020603050405020304" pitchFamily="18" charset="0"/>
              </a:rPr>
              <a:t> Python 3.8+</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Deep Learning Framework:</a:t>
            </a:r>
            <a:r>
              <a:rPr lang="en-US" sz="2400"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PyTorch</a:t>
            </a:r>
            <a:endParaRPr lang="en-US" altLang="en-US" sz="2400" dirty="0">
              <a:latin typeface="Times New Roman" panose="02020603050405020304" pitchFamily="18" charset="0"/>
              <a:cs typeface="Times New Roman" panose="02020603050405020304" pitchFamily="18" charset="0"/>
            </a:endParaRPr>
          </a:p>
          <a:p>
            <a:r>
              <a:rPr lang="en-US" altLang="en-US" sz="2400" b="1" dirty="0">
                <a:latin typeface="Times New Roman" panose="02020603050405020304" pitchFamily="18" charset="0"/>
                <a:cs typeface="Times New Roman" panose="02020603050405020304" pitchFamily="18" charset="0"/>
              </a:rPr>
              <a:t>Federated Learning Framework: </a:t>
            </a:r>
            <a:r>
              <a:rPr lang="en-US" altLang="en-US" sz="2400" dirty="0">
                <a:latin typeface="Times New Roman" panose="02020603050405020304" pitchFamily="18" charset="0"/>
                <a:cs typeface="Times New Roman" panose="02020603050405020304" pitchFamily="18" charset="0"/>
              </a:rPr>
              <a:t> Flower</a:t>
            </a:r>
            <a:endParaRPr lang="en-US" altLang="en-US" sz="2400" dirty="0">
              <a:latin typeface="Times New Roman" panose="02020603050405020304" pitchFamily="18" charset="0"/>
              <a:cs typeface="Times New Roman" panose="02020603050405020304" pitchFamily="18" charset="0"/>
            </a:endParaRPr>
          </a:p>
          <a:p>
            <a:r>
              <a:rPr lang="en-US" altLang="en-US" sz="2400" b="1" dirty="0">
                <a:latin typeface="Times New Roman" panose="02020603050405020304" pitchFamily="18" charset="0"/>
                <a:cs typeface="Times New Roman" panose="02020603050405020304" pitchFamily="18" charset="0"/>
              </a:rPr>
              <a:t>Privacy Technique: </a:t>
            </a:r>
            <a:r>
              <a:rPr lang="en-US" altLang="en-US" sz="2400" dirty="0">
                <a:latin typeface="Times New Roman" panose="02020603050405020304" pitchFamily="18" charset="0"/>
                <a:cs typeface="Times New Roman" panose="02020603050405020304" pitchFamily="18" charset="0"/>
              </a:rPr>
              <a:t>Differential Privacy ( Opacus</a:t>
            </a:r>
            <a:r>
              <a:rPr lang="en-IN" altLang="en-US" sz="2400" dirty="0">
                <a:latin typeface="Times New Roman" panose="02020603050405020304" pitchFamily="18" charset="0"/>
                <a:cs typeface="Times New Roman" panose="02020603050405020304" pitchFamily="18" charset="0"/>
              </a:rPr>
              <a:t>)</a:t>
            </a:r>
            <a:endParaRPr lang="en-US" alt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Libraries: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NumPy</a:t>
            </a:r>
            <a:r>
              <a:rPr lang="en-US" sz="2400" dirty="0">
                <a:latin typeface="Times New Roman" panose="02020603050405020304" pitchFamily="18" charset="0"/>
                <a:cs typeface="Times New Roman" panose="02020603050405020304" pitchFamily="18" charset="0"/>
              </a:rPr>
              <a:t>, </a:t>
            </a:r>
            <a:r>
              <a:rPr lang="en-IN" altLang="en-US" sz="2400" dirty="0">
                <a:latin typeface="Times New Roman" panose="02020603050405020304" pitchFamily="18" charset="0"/>
                <a:cs typeface="Times New Roman" panose="02020603050405020304" pitchFamily="18" charset="0"/>
              </a:rPr>
              <a:t>Pandas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Matplotlib</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Scikit</a:t>
            </a:r>
            <a:r>
              <a:rPr lang="en-US" sz="2400" dirty="0">
                <a:latin typeface="Times New Roman" panose="02020603050405020304" pitchFamily="18" charset="0"/>
                <a:cs typeface="Times New Roman" panose="02020603050405020304" pitchFamily="18" charset="0"/>
              </a:rPr>
              <a:t>-learn</a:t>
            </a:r>
            <a:endParaRPr lang="en-US" sz="2400" dirty="0">
              <a:latin typeface="Times New Roman" panose="02020603050405020304" pitchFamily="18" charset="0"/>
              <a:cs typeface="Times New Roman" panose="02020603050405020304" pitchFamily="18" charset="0"/>
            </a:endParaRPr>
          </a:p>
          <a:p>
            <a:r>
              <a:rPr lang="en-US" altLang="en-US" sz="2400" b="1" dirty="0">
                <a:latin typeface="Times New Roman" panose="02020603050405020304" pitchFamily="18" charset="0"/>
                <a:cs typeface="Times New Roman" panose="02020603050405020304" pitchFamily="18" charset="0"/>
              </a:rPr>
              <a:t>Server Environment:</a:t>
            </a:r>
            <a:r>
              <a:rPr lang="en-US" altLang="en-US" sz="2400" dirty="0">
                <a:latin typeface="Times New Roman" panose="02020603050405020304" pitchFamily="18" charset="0"/>
                <a:cs typeface="Times New Roman" panose="02020603050405020304" pitchFamily="18" charset="0"/>
              </a:rPr>
              <a:t> Central Aggregation Server (FedAvg Algorithm)</a:t>
            </a:r>
            <a:endParaRPr lang="en-US" altLang="en-US" sz="2400" b="1" dirty="0">
              <a:latin typeface="Times New Roman" panose="02020603050405020304" pitchFamily="18" charset="0"/>
              <a:cs typeface="Times New Roman" panose="02020603050405020304" pitchFamily="18" charset="0"/>
            </a:endParaRPr>
          </a:p>
          <a:p>
            <a:r>
              <a:rPr lang="en-US" altLang="en-US" sz="2400" b="1" dirty="0">
                <a:latin typeface="Times New Roman" panose="02020603050405020304" pitchFamily="18" charset="0"/>
                <a:cs typeface="Times New Roman" panose="02020603050405020304" pitchFamily="18" charset="0"/>
              </a:rPr>
              <a:t>Client Environment:</a:t>
            </a:r>
            <a:r>
              <a:rPr lang="en-US" altLang="en-US" sz="2400" dirty="0">
                <a:latin typeface="Times New Roman" panose="02020603050405020304" pitchFamily="18" charset="0"/>
                <a:cs typeface="Times New Roman" panose="02020603050405020304" pitchFamily="18" charset="0"/>
              </a:rPr>
              <a:t> Android Device / Simulated Clients</a:t>
            </a:r>
            <a:endParaRPr lang="en-US" altLang="en-US" sz="2400" dirty="0">
              <a:latin typeface="Times New Roman" panose="02020603050405020304" pitchFamily="18" charset="0"/>
              <a:cs typeface="Times New Roman" panose="02020603050405020304" pitchFamily="18" charset="0"/>
            </a:endParaRPr>
          </a:p>
          <a:p>
            <a:r>
              <a:rPr lang="en-US" altLang="en-US" sz="2400" b="1" dirty="0">
                <a:latin typeface="Times New Roman" panose="02020603050405020304" pitchFamily="18" charset="0"/>
                <a:cs typeface="Times New Roman" panose="02020603050405020304" pitchFamily="18" charset="0"/>
              </a:rPr>
              <a:t>Input Data: </a:t>
            </a:r>
            <a:r>
              <a:rPr lang="en-US" altLang="en-US" sz="2400" dirty="0">
                <a:latin typeface="Times New Roman" panose="02020603050405020304" pitchFamily="18" charset="0"/>
                <a:cs typeface="Times New Roman" panose="02020603050405020304" pitchFamily="18" charset="0"/>
              </a:rPr>
              <a:t>Text Dataset (Tokenized &amp; Preprocessed)</a:t>
            </a:r>
            <a:endParaRPr lang="en-US" alt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Optimizer:</a:t>
            </a:r>
            <a:r>
              <a:rPr lang="en-US" sz="2400" dirty="0">
                <a:latin typeface="Times New Roman" panose="02020603050405020304" pitchFamily="18" charset="0"/>
                <a:cs typeface="Times New Roman" panose="02020603050405020304" pitchFamily="18" charset="0"/>
              </a:rPr>
              <a:t> Adam</a:t>
            </a:r>
            <a:endParaRPr lang="en-US" sz="2400" dirty="0">
              <a:latin typeface="Times New Roman" panose="02020603050405020304" pitchFamily="18" charset="0"/>
              <a:cs typeface="Times New Roman" panose="02020603050405020304" pitchFamily="18" charset="0"/>
            </a:endParaRPr>
          </a:p>
          <a:p>
            <a:pPr marL="0" indent="0">
              <a:buNone/>
            </a:pPr>
            <a:endParaRPr lang="en-US" sz="2100" dirty="0"/>
          </a:p>
          <a:p>
            <a:pPr>
              <a:buNone/>
            </a:pP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sz="4000" dirty="0">
                <a:latin typeface="Times New Roman" panose="02020603050405020304" pitchFamily="18" charset="0"/>
                <a:cs typeface="Times New Roman" panose="02020603050405020304" pitchFamily="18" charset="0"/>
              </a:rPr>
              <a:t>LITERATURE SURVEY</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52400" y="419100"/>
            <a:ext cx="8229600" cy="6096000"/>
          </a:xfrm>
        </p:spPr>
        <p:txBody>
          <a:bodyPr>
            <a:noAutofit/>
          </a:bodyPr>
          <a:lstStyle/>
          <a:p>
            <a:pPr marL="0" indent="0" algn="just">
              <a:lnSpc>
                <a:spcPct val="150000"/>
              </a:lnSpc>
              <a:buNone/>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altLang="en-US" sz="1600" dirty="0">
                <a:latin typeface="Times New Roman" panose="02020603050405020304" pitchFamily="18" charset="0"/>
                <a:cs typeface="Times New Roman" panose="02020603050405020304" pitchFamily="18" charset="0"/>
              </a:rPr>
              <a:t> </a:t>
            </a:r>
            <a:r>
              <a:rPr lang="en-US" altLang="en-US" sz="1600" b="1" dirty="0">
                <a:latin typeface="Times New Roman" panose="02020603050405020304" pitchFamily="18" charset="0"/>
                <a:cs typeface="Times New Roman" panose="02020603050405020304" pitchFamily="18" charset="0"/>
              </a:rPr>
              <a:t>Federated Learning for Decentralized Training :</a:t>
            </a:r>
            <a:endParaRPr lang="en-US" alt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altLang="en-US" sz="1600" dirty="0">
                <a:latin typeface="Times New Roman" panose="02020603050405020304" pitchFamily="18" charset="0"/>
                <a:cs typeface="Times New Roman" panose="02020603050405020304" pitchFamily="18" charset="0"/>
              </a:rPr>
              <a:t>Federated Learning (FL) enables multiple clients to collaboratively train a shared model without transferring raw data. The Federated Averaging (FedAvg) algorithm reduces communication cost while maintaining performance.</a:t>
            </a:r>
            <a:endParaRPr lang="en-US" alt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altLang="en-US" sz="1600" b="1" dirty="0">
                <a:latin typeface="Times New Roman" panose="02020603050405020304" pitchFamily="18" charset="0"/>
                <a:cs typeface="Times New Roman" panose="02020603050405020304" pitchFamily="18" charset="0"/>
              </a:rPr>
              <a:t> LSTM for Next-Word Prediction :</a:t>
            </a:r>
            <a:endParaRPr lang="en-US" altLang="en-US" sz="1600" b="1"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altLang="en-US" sz="1600" dirty="0">
                <a:latin typeface="Times New Roman" panose="02020603050405020304" pitchFamily="18" charset="0"/>
                <a:cs typeface="Times New Roman" panose="02020603050405020304" pitchFamily="18" charset="0"/>
              </a:rPr>
              <a:t>Long Short-Term Memory (LSTM) networks are widely used for language modeling due to their ability to capture sequential dependencies and contextual relationships in text data.</a:t>
            </a:r>
            <a:endParaRPr lang="en-US" alt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altLang="en-US" sz="1600" b="1" dirty="0">
                <a:latin typeface="Times New Roman" panose="02020603050405020304" pitchFamily="18" charset="0"/>
                <a:cs typeface="Times New Roman" panose="02020603050405020304" pitchFamily="18" charset="0"/>
              </a:rPr>
              <a:t>Privacy Risks in FL :</a:t>
            </a:r>
            <a:endParaRPr lang="en-US" altLang="en-US" sz="1600" b="1"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altLang="en-US" sz="1600" dirty="0">
                <a:latin typeface="Times New Roman" panose="02020603050405020304" pitchFamily="18" charset="0"/>
                <a:cs typeface="Times New Roman" panose="02020603050405020304" pitchFamily="18" charset="0"/>
              </a:rPr>
              <a:t>Studies indicate that model updates in federated learning may still leak sensitive information, highlighting the need for stronger privacy mechanisms.</a:t>
            </a:r>
            <a:endParaRPr lang="en-US" alt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altLang="en-US" sz="1600" dirty="0">
                <a:latin typeface="Times New Roman" panose="02020603050405020304" pitchFamily="18" charset="0"/>
                <a:cs typeface="Times New Roman" panose="02020603050405020304" pitchFamily="18" charset="0"/>
              </a:rPr>
              <a:t> </a:t>
            </a:r>
            <a:r>
              <a:rPr lang="en-US" altLang="en-US" sz="1600" b="1" dirty="0">
                <a:latin typeface="Times New Roman" panose="02020603050405020304" pitchFamily="18" charset="0"/>
                <a:cs typeface="Times New Roman" panose="02020603050405020304" pitchFamily="18" charset="0"/>
              </a:rPr>
              <a:t>Differential Privacy in Deep Learning :</a:t>
            </a:r>
            <a:endParaRPr lang="en-US" alt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altLang="en-US" sz="1600" dirty="0">
                <a:latin typeface="Times New Roman" panose="02020603050405020304" pitchFamily="18" charset="0"/>
                <a:cs typeface="Times New Roman" panose="02020603050405020304" pitchFamily="18" charset="0"/>
              </a:rPr>
              <a:t>Differential Privacy (DP) protects individual data contributions using gradient clipping and noise addition, providing measurable privacy guarantees.It ensures that the inclusion or exclusion of a single user’s data has minimal impact on the final model, thereby preventing information leakage.</a:t>
            </a:r>
            <a:endParaRPr lang="en-US" alt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4055" y="0"/>
            <a:ext cx="8229600" cy="1143000"/>
          </a:xfrm>
        </p:spPr>
        <p:txBody>
          <a:bodyPr>
            <a:normAutofit/>
          </a:bodyPr>
          <a:lstStyle/>
          <a:p>
            <a:r>
              <a:rPr lang="en-US" sz="4000" dirty="0">
                <a:latin typeface="Times New Roman" panose="02020603050405020304" pitchFamily="18" charset="0"/>
                <a:cs typeface="Times New Roman" panose="02020603050405020304" pitchFamily="18" charset="0"/>
              </a:rPr>
              <a:t>EXISTING SYSTEM</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1143000"/>
            <a:ext cx="8229600" cy="5012055"/>
          </a:xfrm>
        </p:spPr>
        <p:txBody>
          <a:bodyPr>
            <a:normAutofit fontScale="90000" lnSpcReduction="10000"/>
          </a:bodyPr>
          <a:lstStyle/>
          <a:p>
            <a:pPr marL="0" indent="0" algn="just">
              <a:lnSpc>
                <a:spcPct val="170000"/>
              </a:lnSpc>
              <a:buNone/>
            </a:pPr>
            <a:r>
              <a:rPr lang="en-US" altLang="en-US" sz="2220" b="1" dirty="0">
                <a:latin typeface="Times New Roman" panose="02020603050405020304" pitchFamily="18" charset="0"/>
                <a:cs typeface="Times New Roman" panose="02020603050405020304" pitchFamily="18" charset="0"/>
              </a:rPr>
              <a:t>Centralized Model</a:t>
            </a:r>
            <a:endParaRPr lang="en-US" altLang="en-US" sz="2220" b="1"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pPr>
              <a:lnSpc>
                <a:spcPct val="120000"/>
              </a:lnSpc>
            </a:pPr>
            <a:r>
              <a:rPr lang="en-US" sz="1800" b="1" dirty="0">
                <a:latin typeface="Times New Roman" panose="02020603050405020304" pitchFamily="18" charset="0"/>
                <a:cs typeface="Times New Roman" panose="02020603050405020304" pitchFamily="18" charset="0"/>
              </a:rPr>
              <a:t> </a:t>
            </a:r>
            <a:r>
              <a:rPr lang="en-US" altLang="en-US" sz="1800" dirty="0"/>
              <a:t>Existing smart keyboards mainly rely on predictive text, autocorrection, and basic context‑aware suggestions to improve typing speed. These systems use machine learning models to predict the next word based on user typing patterns. However, suggestions are generated continuously without user control, which often leads to distractions and irrelevant recommendations.</a:t>
            </a:r>
            <a:endParaRPr lang="en-US" altLang="en-US" sz="1800" dirty="0"/>
          </a:p>
          <a:p>
            <a:pPr>
              <a:lnSpc>
                <a:spcPct val="120000"/>
              </a:lnSpc>
            </a:pPr>
            <a:r>
              <a:rPr lang="en-US" altLang="en-US" sz="1800" dirty="0"/>
              <a:t>Another limitation is the lack of personalization. Most keyboards treat all users the same and do not adapt based on user expertise or communication style. Additionally, many existing systems rely on cloud-based processing, raising privacy concerns and increasing dependency on internet connectivity. These limitations highlight the need for a more adaptive and user‑controlled smart keyboard system.</a:t>
            </a:r>
            <a:endParaRPr lang="en-US" altLang="en-US" sz="1800" dirty="0"/>
          </a:p>
          <a:p>
            <a:pPr>
              <a:lnSpc>
                <a:spcPct val="120000"/>
              </a:lnSpc>
            </a:pPr>
            <a:r>
              <a:rPr lang="en-US" altLang="en-US" sz="1800" dirty="0"/>
              <a:t>Furthermore, many existing keyboard systems rely on centralized cloud-based processing for training and generating suggestions. This introduces significant privacy concerns, as user typing data may contain sensitive personal or professional information. Continuous background processing and cloud communication also increase latency and dependency on internet connectivity.</a:t>
            </a:r>
            <a:endParaRPr lang="en-US" altLang="en-US" sz="1800" dirty="0"/>
          </a:p>
          <a:p>
            <a:endParaRPr lang="en-US" altLang="en-US" sz="1800" dirty="0"/>
          </a:p>
          <a:p>
            <a:endParaRPr lang="en-US" altLang="en-US" sz="1800" dirty="0"/>
          </a:p>
          <a:p>
            <a:endParaRPr lang="en-US" altLang="en-US" sz="1800" dirty="0"/>
          </a:p>
          <a:p>
            <a:endParaRPr lang="en-US" altLang="en-US" sz="1800" dirty="0"/>
          </a:p>
          <a:p>
            <a:pPr marL="0" indent="0">
              <a:buNone/>
            </a:pPr>
            <a:endParaRPr lang="en-US" altLang="en-US" sz="1800" dirty="0"/>
          </a:p>
          <a:p>
            <a:pPr marL="0" indent="0">
              <a:buNone/>
            </a:pPr>
            <a:endParaRPr lang="en-US" altLang="en-US" sz="1800" dirty="0"/>
          </a:p>
          <a:p>
            <a:pPr marL="0" indent="0">
              <a:buNone/>
            </a:pPr>
            <a:endParaRPr lang="en-US" altLang="en-US" sz="1800" dirty="0"/>
          </a:p>
          <a:p>
            <a:pPr marL="0" indent="0">
              <a:buNone/>
            </a:pPr>
            <a:endParaRPr lang="en-US" altLang="en-US" sz="1800" dirty="0"/>
          </a:p>
          <a:p>
            <a:endParaRPr lang="en-US" sz="1800" dirty="0"/>
          </a:p>
          <a:p>
            <a:pPr marL="0" indent="0" algn="just">
              <a:lnSpc>
                <a:spcPct val="170000"/>
              </a:lnSpc>
              <a:buNone/>
            </a:pPr>
            <a:endParaRPr lang="en-US" sz="8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a:latin typeface="Times New Roman" panose="02020603050405020304" pitchFamily="18" charset="0"/>
                <a:cs typeface="Times New Roman" panose="02020603050405020304" pitchFamily="18" charset="0"/>
              </a:rPr>
              <a:t>BLOCK DIAGRAM</a:t>
            </a:r>
            <a:endParaRPr lang="en-IN" dirty="0">
              <a:latin typeface="Times New Roman" panose="02020603050405020304" pitchFamily="18" charset="0"/>
              <a:cs typeface="Times New Roman" panose="02020603050405020304" pitchFamily="18" charset="0"/>
            </a:endParaRPr>
          </a:p>
        </p:txBody>
      </p:sp>
      <p:pic>
        <p:nvPicPr>
          <p:cNvPr id="5" name="Content Placeholder 4" descr="Block Diagram"/>
          <p:cNvPicPr>
            <a:picLocks noChangeAspect="1"/>
          </p:cNvPicPr>
          <p:nvPr>
            <p:ph idx="1"/>
          </p:nvPr>
        </p:nvPicPr>
        <p:blipFill>
          <a:blip r:embed="rId1"/>
          <a:stretch>
            <a:fillRect/>
          </a:stretch>
        </p:blipFill>
        <p:spPr>
          <a:xfrm>
            <a:off x="2079625" y="838200"/>
            <a:ext cx="4767580" cy="58007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normAutofit/>
          </a:bodyPr>
          <a:lstStyle/>
          <a:p>
            <a:r>
              <a:rPr lang="en-US" dirty="0">
                <a:latin typeface="Times New Roman" panose="02020603050405020304" pitchFamily="18" charset="0"/>
                <a:cs typeface="Times New Roman" panose="02020603050405020304" pitchFamily="18" charset="0"/>
              </a:rPr>
              <a:t>PROPOSED SYSTEM </a:t>
            </a:r>
            <a:endParaRPr lang="en-US"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52400" y="1011555"/>
            <a:ext cx="8839200" cy="5465445"/>
          </a:xfrm>
        </p:spPr>
        <p:txBody>
          <a:bodyPr>
            <a:normAutofit lnSpcReduction="20000"/>
          </a:bodyPr>
          <a:lstStyle/>
          <a:p>
            <a:pPr algn="l">
              <a:lnSpc>
                <a:spcPct val="120000"/>
              </a:lnSpc>
              <a:buFont typeface="Arial" panose="020B0604020202020204" pitchFamily="34" charset="0"/>
            </a:pPr>
            <a:endParaRPr lang="en-US" altLang="en-US" sz="2000" b="1" dirty="0">
              <a:solidFill>
                <a:schemeClr val="tx1"/>
              </a:solidFill>
              <a:latin typeface="Times New Roman" panose="02020603050405020304" pitchFamily="18" charset="0"/>
              <a:cs typeface="Times New Roman" panose="02020603050405020304" pitchFamily="18" charset="0"/>
            </a:endParaRPr>
          </a:p>
          <a:p>
            <a:pPr algn="l">
              <a:lnSpc>
                <a:spcPct val="120000"/>
              </a:lnSpc>
              <a:buFont typeface="Arial" panose="020B0604020202020204" pitchFamily="34" charset="0"/>
            </a:pPr>
            <a:r>
              <a:rPr lang="en-US" altLang="en-US" sz="2000" b="1" dirty="0">
                <a:solidFill>
                  <a:schemeClr val="tx1"/>
                </a:solidFill>
                <a:latin typeface="Times New Roman" panose="02020603050405020304" pitchFamily="18" charset="0"/>
                <a:cs typeface="Times New Roman" panose="02020603050405020304" pitchFamily="18" charset="0"/>
              </a:rPr>
              <a:t>On‑Demand AI Toggle Interaction</a:t>
            </a:r>
            <a:endParaRPr lang="en-US" altLang="en-US" sz="2000" b="1" dirty="0">
              <a:solidFill>
                <a:schemeClr val="tx1"/>
              </a:solidFill>
              <a:latin typeface="Times New Roman" panose="02020603050405020304" pitchFamily="18" charset="0"/>
              <a:cs typeface="Times New Roman" panose="02020603050405020304" pitchFamily="18" charset="0"/>
            </a:endParaRPr>
          </a:p>
          <a:p>
            <a:pPr algn="l">
              <a:lnSpc>
                <a:spcPct val="120000"/>
              </a:lnSpc>
              <a:buFont typeface="Arial" panose="020B0604020202020204" pitchFamily="34" charset="0"/>
            </a:pPr>
            <a:endParaRPr lang="en-US" altLang="en-US" sz="2000" b="1" dirty="0">
              <a:solidFill>
                <a:schemeClr val="tx1"/>
              </a:solidFill>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The proposed system introduces an Adaptive AI‑Enabled Smart Keyboard designed to improve communication efficiency, personalization, and user control. The system integrates advanced AI capabilities directly into the keyboard while ensuring privacy and usability.</a:t>
            </a:r>
            <a:endParaRPr lang="en-US" altLang="en-US" sz="1800" dirty="0">
              <a:solidFill>
                <a:schemeClr val="tx1"/>
              </a:solidFill>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The proposed keyboard includes a dedicated AI toggle button that allows users to activate artificial intelligence only when required. Once enabled, the keyboard transforms into an AI chat interface, generates the required message based on user prompts, and automatically returns to normal typing mode after generation.</a:t>
            </a:r>
            <a:endParaRPr lang="en-US" altLang="en-US" sz="1800" dirty="0">
              <a:solidFill>
                <a:schemeClr val="tx1"/>
              </a:solidFill>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The system adapts to different user expertise levels by analyzing communication patterns. Beginner users receive detailed suggestions, while expert users receive concise and professional responses, improving communication efficiency.</a:t>
            </a:r>
            <a:endParaRPr lang="en-US" altLang="en-US" sz="1800" dirty="0">
              <a:solidFill>
                <a:schemeClr val="tx1"/>
              </a:solidFill>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To provide stronger privacy protection, Differential Privacy (DP) techniques such as gradient clipping and noise addition are applied during local training, ensuring that individual user data cannot be inferred from model updates.</a:t>
            </a:r>
            <a:endParaRPr lang="en-US" altLang="en-US" sz="1800" dirty="0">
              <a:solidFill>
                <a:schemeClr val="tx1"/>
              </a:solidFill>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The AI agent understands user intent and generates structured, meaningful responses. Users can review, edit, or regenerate responses before sending, providing full control over communication.</a:t>
            </a:r>
            <a:endParaRPr lang="en-US" alt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CONCLUSION</a:t>
            </a:r>
            <a:endParaRPr lang="en-IN"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20000"/>
          </a:bodyPr>
          <a:lstStyle/>
          <a:p>
            <a:pPr algn="just"/>
            <a:r>
              <a:rPr lang="en-US" altLang="en-US" sz="1800" dirty="0">
                <a:latin typeface="Times New Roman" panose="02020603050405020304" pitchFamily="18" charset="0"/>
                <a:cs typeface="Times New Roman" panose="02020603050405020304" pitchFamily="18" charset="0"/>
              </a:rPr>
              <a:t>This research paper is about an Adaptive AI Enabled Smart Keyboard. This keyboard is designed to make digital communication better with the help of assistance and knowledge aware text generation. The system has a way of interacting with the user using an AI toggle. This means that users can turn on the intelligence only when they need it. This is different from smart keyboards that are always giving suggestions. The Adaptive AI Enabled Smart Keyboard gives users control reduces the amount of information they have to deal with and makes communication more efficient. The system also takes into account the users level of expertise and the context in which they are communicating. This makes the text generation more meaningful and relevant.</a:t>
            </a:r>
            <a:endParaRPr lang="en-US" altLang="en-US" sz="1800" dirty="0">
              <a:latin typeface="Times New Roman" panose="02020603050405020304" pitchFamily="18" charset="0"/>
              <a:cs typeface="Times New Roman" panose="02020603050405020304" pitchFamily="18" charset="0"/>
            </a:endParaRPr>
          </a:p>
          <a:p>
            <a:pPr algn="just"/>
            <a:endParaRPr lang="en-US" altLang="en-US" sz="1800" dirty="0">
              <a:latin typeface="Times New Roman" panose="02020603050405020304" pitchFamily="18" charset="0"/>
              <a:cs typeface="Times New Roman" panose="02020603050405020304" pitchFamily="18" charset="0"/>
            </a:endParaRPr>
          </a:p>
          <a:p>
            <a:pPr algn="just"/>
            <a:r>
              <a:rPr lang="en-US" altLang="en-US" sz="1800" dirty="0">
                <a:latin typeface="Times New Roman" panose="02020603050405020304" pitchFamily="18" charset="0"/>
                <a:cs typeface="Times New Roman" panose="02020603050405020304" pitchFamily="18" charset="0"/>
              </a:rPr>
              <a:t> The system can also be made to work and be more private by using lighter AI models and processing data on the device. Overall the Adaptive AI Enabled Smart Keyboard is a step towards making digital communication more intelligent and user friendly. It offers usability, personalization and privacy. The Adaptive AI Enabled Smart Keyboard is a tool, for modern digital interactions.</a:t>
            </a:r>
            <a:endParaRPr lang="en-US" alt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229600" cy="1143000"/>
          </a:xfrm>
        </p:spPr>
        <p:txBody>
          <a:bodyPr/>
          <a:lstStyle/>
          <a:p>
            <a:r>
              <a:rPr lang="en-IN" dirty="0">
                <a:latin typeface="Times New Roman" panose="02020603050405020304" pitchFamily="18" charset="0"/>
                <a:cs typeface="Times New Roman" panose="02020603050405020304" pitchFamily="18" charset="0"/>
              </a:rPr>
              <a:t>REFERENCES</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IN" sz="1800" dirty="0">
                <a:latin typeface="Times New Roman" panose="02020603050405020304" pitchFamily="18" charset="0"/>
                <a:cs typeface="Times New Roman" panose="02020603050405020304" pitchFamily="18" charset="0"/>
              </a:rPr>
              <a:t> </a:t>
            </a:r>
            <a:r>
              <a:rPr lang="en-IN" sz="1800" u="sng" dirty="0">
                <a:hlinkClick r:id="rId1"/>
              </a:rPr>
              <a:t>https://doi.org/10.3390/su17198761</a:t>
            </a:r>
            <a:endParaRPr lang="en-IN" sz="1800" u="sng" dirty="0"/>
          </a:p>
          <a:p>
            <a:pPr algn="just"/>
            <a:endParaRPr lang="en-IN" sz="1800" u="sng" dirty="0">
              <a:latin typeface="Times New Roman" panose="02020603050405020304" pitchFamily="18" charset="0"/>
              <a:cs typeface="Times New Roman" panose="02020603050405020304" pitchFamily="18" charset="0"/>
            </a:endParaRPr>
          </a:p>
          <a:p>
            <a:pPr algn="just"/>
            <a:r>
              <a:rPr lang="en-IN" sz="1800" u="sng" dirty="0">
                <a:hlinkClick r:id="rId2"/>
              </a:rPr>
              <a:t>http://creativecommons.org/licenses/by-nc/4.0/</a:t>
            </a:r>
            <a:r>
              <a:rPr lang="en-IN" sz="1800" dirty="0"/>
              <a:t>)</a:t>
            </a:r>
            <a:endParaRPr lang="en-IN" sz="1800" dirty="0"/>
          </a:p>
          <a:p>
            <a:pPr algn="just"/>
            <a:endParaRPr lang="en-IN" sz="2000" dirty="0">
              <a:latin typeface="Times New Roman" panose="02020603050405020304" pitchFamily="18" charset="0"/>
              <a:cs typeface="Times New Roman" panose="02020603050405020304" pitchFamily="18" charset="0"/>
            </a:endParaRPr>
          </a:p>
          <a:p>
            <a:pPr algn="just"/>
            <a:r>
              <a:rPr lang="en-IN" sz="1800" dirty="0">
                <a:latin typeface="Times New Roman" panose="02020603050405020304" pitchFamily="18" charset="0"/>
                <a:cs typeface="Times New Roman" panose="02020603050405020304" pitchFamily="18" charset="0"/>
              </a:rPr>
              <a:t>Intelligent Waste Classification System Using Deep Learning Convolutional Neural Network . (SMPM) 2019 ,  10.1016/j.promfg.2019.05.086.</a:t>
            </a:r>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lvl="0"/>
            <a:r>
              <a:rPr lang="en-IN" sz="1800" dirty="0">
                <a:latin typeface="Times New Roman" panose="02020603050405020304" pitchFamily="18" charset="0"/>
                <a:cs typeface="Times New Roman" panose="02020603050405020304" pitchFamily="18" charset="0"/>
              </a:rPr>
              <a:t>Classification of Waste Materials using CNN Based on Transfer Learning  . fire ’22: forum for information retrieval evaluation ; </a:t>
            </a:r>
            <a:r>
              <a:rPr lang="en-IN" sz="1800" dirty="0">
                <a:latin typeface="Times New Roman" panose="02020603050405020304" pitchFamily="18" charset="0"/>
                <a:cs typeface="Times New Roman" panose="02020603050405020304" pitchFamily="18" charset="0"/>
                <a:hlinkClick r:id="rId3"/>
              </a:rPr>
              <a:t>https://dl.acm.org.com</a:t>
            </a:r>
            <a:endParaRPr lang="en-IN" sz="1800" dirty="0">
              <a:latin typeface="Times New Roman" panose="02020603050405020304" pitchFamily="18" charset="0"/>
              <a:cs typeface="Times New Roman" panose="02020603050405020304" pitchFamily="18" charset="0"/>
            </a:endParaRPr>
          </a:p>
          <a:p>
            <a:pPr lvl="0"/>
            <a:endParaRPr lang="en-IN" sz="1800" b="1" dirty="0">
              <a:latin typeface="Times New Roman" panose="02020603050405020304" pitchFamily="18" charset="0"/>
              <a:cs typeface="Times New Roman" panose="02020603050405020304" pitchFamily="18" charset="0"/>
            </a:endParaRPr>
          </a:p>
          <a:p>
            <a:pPr lvl="0"/>
            <a:r>
              <a:rPr lang="en-IN" sz="1800" dirty="0">
                <a:latin typeface="Times New Roman" panose="02020603050405020304" pitchFamily="18" charset="0"/>
                <a:cs typeface="Times New Roman" panose="02020603050405020304" pitchFamily="18" charset="0"/>
              </a:rPr>
              <a:t>Garbage In, Insights Out: Deep Transfer Learning for Automatic Solid Waste Classification “.2024 IEEE 1st International Conference on Green Industrial Electronics and Sustainable Technologies (GIEST).</a:t>
            </a:r>
            <a:endParaRPr lang="en-IN" sz="1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0"/>
            <a:ext cx="8229600" cy="1143000"/>
          </a:xfrm>
        </p:spPr>
        <p:txBody>
          <a:bodyPr>
            <a:noAutofit/>
          </a:bodyPr>
          <a:lstStyle/>
          <a:p>
            <a:r>
              <a:rPr lang="en-IN" sz="7200" dirty="0">
                <a:latin typeface="Times New Roman" panose="02020603050405020304" pitchFamily="18" charset="0"/>
                <a:cs typeface="Times New Roman" panose="02020603050405020304" pitchFamily="18" charset="0"/>
              </a:rPr>
              <a:t>THANK YOU</a:t>
            </a:r>
            <a:endParaRPr lang="en-IN" sz="72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8597</Words>
  <Application>WPS Presentation</Application>
  <PresentationFormat>On-screen Show (4:3)</PresentationFormat>
  <Paragraphs>120</Paragraphs>
  <Slides>12</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12</vt:i4>
      </vt:variant>
    </vt:vector>
  </HeadingPairs>
  <TitlesOfParts>
    <vt:vector size="21" baseType="lpstr">
      <vt:lpstr>Arial</vt:lpstr>
      <vt:lpstr>SimSun</vt:lpstr>
      <vt:lpstr>Wingdings</vt:lpstr>
      <vt:lpstr>Times New Roman</vt:lpstr>
      <vt:lpstr>Book Antiqua</vt:lpstr>
      <vt:lpstr>Microsoft YaHei</vt:lpstr>
      <vt:lpstr>Arial Unicode MS</vt:lpstr>
      <vt:lpstr>Calibri</vt:lpstr>
      <vt:lpstr>Office Theme</vt:lpstr>
      <vt:lpstr>PowerPoint 演示文稿</vt:lpstr>
      <vt:lpstr> CONTENTS </vt:lpstr>
      <vt:lpstr>ABSTRACT</vt:lpstr>
      <vt:lpstr>INTRODUCTION</vt:lpstr>
      <vt:lpstr>SYSTEM REQUIREMENT</vt:lpstr>
      <vt:lpstr>LITERATURE SURVEY</vt:lpstr>
      <vt:lpstr>EXISTING SYSTEM</vt:lpstr>
      <vt:lpstr>BLOCK DIAGRAM</vt:lpstr>
      <vt:lpstr>PROPOSED SYSTEM </vt:lpstr>
      <vt:lpstr>CONCLUSION</vt:lpstr>
      <vt:lpstr>REFERENCES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Admin1</dc:creator>
  <cp:lastModifiedBy>JOE LEON J URK21CS5050</cp:lastModifiedBy>
  <cp:revision>67</cp:revision>
  <dcterms:created xsi:type="dcterms:W3CDTF">2020-04-08T03:49:00Z</dcterms:created>
  <dcterms:modified xsi:type="dcterms:W3CDTF">2026-04-09T05:22:54Z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9E1B5E6B55FE49798D28B3B8F4441110_13</vt:lpwstr>
  </property>
  <property fmtid="{D5CDD505-2E9C-101B-9397-08002B2CF9AE}" pid="3" name="KSOProductBuildVer">
    <vt:lpwstr>1033-12.1.0.25242</vt:lpwstr>
  </property>
</Properties>
</file>